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0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2445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Analytics for Customer Behavior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585591"/>
            <a:ext cx="4722763" cy="9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Customer Behavior Analysis &amp; Churn Prediction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Internship Project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 by: </a:t>
            </a: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Rakesh B V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B.E. Electronics And Communication Engineering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 Bosco Institute of Technology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72294"/>
            <a:ext cx="1113086" cy="233214"/>
          </a:xfrm>
          <a:prstGeom prst="roundRect">
            <a:avLst>
              <a:gd name="adj" fmla="val 17872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009501"/>
            <a:ext cx="142145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25506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Understanding the Business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828651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churn — the rate at which customers stop doing business with a company — is one of the most critical challenges in the telecom and service industries. Predictive analytics leverages historical data and machine learning to identify at-risk customers </a:t>
            </a:r>
            <a:r>
              <a:rPr lang="en-US" sz="9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they leave, enabling proactive retention strategies.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2563564"/>
            <a:ext cx="4103191" cy="1607641"/>
          </a:xfrm>
          <a:prstGeom prst="roundRect">
            <a:avLst>
              <a:gd name="adj" fmla="val 5556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68753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3005361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 customer behavior patterns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key churn drivers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and compare ML models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 actionable business insights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68753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3005361"/>
            <a:ext cx="3924598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7,043 customers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the dataset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33 features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covering demographics, services, billing, and tenure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variable: </a:t>
            </a: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Churn (Yes/No)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Source: Publicly available telecom customer dataset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1418"/>
            <a:ext cx="530572" cy="115416"/>
          </a:xfrm>
          <a:prstGeom prst="roundRect">
            <a:avLst>
              <a:gd name="adj" fmla="val 20878"/>
            </a:avLst>
          </a:prstGeom>
          <a:noFill/>
          <a:ln/>
          <a:effectLst>
            <a:outerShdw blurRad="101600" dist="50800" dir="16200000" algn="bl" rotWithShape="0">
              <a:srgbClr val="4967E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130" y="412924"/>
            <a:ext cx="901750" cy="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METHODOLOGY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23354"/>
            <a:ext cx="8151763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End-to-End Project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6119" y="809551"/>
            <a:ext cx="8608963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follows a structured data science pipeline — from raw data collection through model deployment — ensuring reproducibility, rigor, and business relevance at every stage.</a:t>
            </a:r>
            <a:endParaRPr lang="en-US" sz="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46696"/>
            <a:ext cx="8151763" cy="3668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4067" y="1136280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4067" y="1419432"/>
            <a:ext cx="1426538" cy="27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Gather raw data from sources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34929" y="3887461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34929" y="4170613"/>
            <a:ext cx="1434376" cy="27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and preprocess datasets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30115" y="998623"/>
            <a:ext cx="1426538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Exploratory Analysis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30115" y="1502223"/>
            <a:ext cx="1426538" cy="27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 patterns and insights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0977" y="3777237"/>
            <a:ext cx="1426539" cy="44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40977" y="4280837"/>
            <a:ext cx="1426539" cy="27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predictive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661520"/>
            <a:ext cx="8608963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stage builds on the previous one: clean data enables meaningful EDA, which informs feature engineering, which directly impacts model quality. The final business recommendations translate model outputs into strategic actions.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6861"/>
            <a:ext cx="923255" cy="107752"/>
          </a:xfrm>
          <a:prstGeom prst="roundRect">
            <a:avLst>
              <a:gd name="adj" fmla="val 21154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36749" y="387176"/>
            <a:ext cx="1299195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EXPLORATORY DATA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489421"/>
            <a:ext cx="815176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 Data Reveals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6119" y="756940"/>
            <a:ext cx="86089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 uncovered critical patterns in customer demographics, service usage, and billing behavior — forming the analytical foundation for churn prediction.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96119" y="919609"/>
            <a:ext cx="399313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Churn Distribution</a:t>
            </a:r>
            <a:endParaRPr lang="en-US" sz="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67321"/>
            <a:ext cx="3993133" cy="28742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59511" y="919609"/>
            <a:ext cx="399313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Contract Type vs Churn Rate</a:t>
            </a:r>
            <a:endParaRPr lang="en-US" sz="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511" y="1067321"/>
            <a:ext cx="3993133" cy="28742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6119" y="4024908"/>
            <a:ext cx="4057352" cy="357336"/>
          </a:xfrm>
          <a:prstGeom prst="roundRect">
            <a:avLst>
              <a:gd name="adj" fmla="val 797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8672" y="4097462"/>
            <a:ext cx="3912245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Monthly Charges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568672" y="4225751"/>
            <a:ext cx="391224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charges correlate strongly with churn — customers paying above ₹6,000/month are at elevated risk.</a:t>
            </a:r>
            <a:endParaRPr lang="en-US" sz="500" dirty="0"/>
          </a:p>
        </p:txBody>
      </p:sp>
      <p:sp>
        <p:nvSpPr>
          <p:cNvPr id="13" name="Shape 9"/>
          <p:cNvSpPr/>
          <p:nvPr/>
        </p:nvSpPr>
        <p:spPr>
          <a:xfrm>
            <a:off x="4590529" y="4024908"/>
            <a:ext cx="4057352" cy="357336"/>
          </a:xfrm>
          <a:prstGeom prst="roundRect">
            <a:avLst>
              <a:gd name="adj" fmla="val 797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083" y="4097462"/>
            <a:ext cx="3912245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Tenure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4663083" y="4225751"/>
            <a:ext cx="391224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Churned customers averaged just 15 months tenure vs. 33 months for retained customers.</a:t>
            </a:r>
            <a:endParaRPr lang="en-US" sz="500" dirty="0"/>
          </a:p>
        </p:txBody>
      </p:sp>
      <p:sp>
        <p:nvSpPr>
          <p:cNvPr id="16" name="Shape 12"/>
          <p:cNvSpPr/>
          <p:nvPr/>
        </p:nvSpPr>
        <p:spPr>
          <a:xfrm>
            <a:off x="496119" y="4419302"/>
            <a:ext cx="4057352" cy="357336"/>
          </a:xfrm>
          <a:prstGeom prst="roundRect">
            <a:avLst>
              <a:gd name="adj" fmla="val 797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8672" y="4491856"/>
            <a:ext cx="3912245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Payment Method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568672" y="4620146"/>
            <a:ext cx="391224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Electronic check users churn at nearly 2× the rate of bank transfer or auto-pay customers.</a:t>
            </a:r>
            <a:endParaRPr lang="en-US" sz="500" dirty="0"/>
          </a:p>
        </p:txBody>
      </p:sp>
      <p:sp>
        <p:nvSpPr>
          <p:cNvPr id="19" name="Shape 15"/>
          <p:cNvSpPr/>
          <p:nvPr/>
        </p:nvSpPr>
        <p:spPr>
          <a:xfrm>
            <a:off x="4590529" y="4419302"/>
            <a:ext cx="4057352" cy="357336"/>
          </a:xfrm>
          <a:prstGeom prst="roundRect">
            <a:avLst>
              <a:gd name="adj" fmla="val 797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083" y="4491856"/>
            <a:ext cx="3912245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CLTV Impact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4663083" y="4620146"/>
            <a:ext cx="391224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 Customer Lifetime Value combined with high monthly charges is a strong churn signal.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5547"/>
            <a:ext cx="843483" cy="233214"/>
          </a:xfrm>
          <a:prstGeom prst="roundRect">
            <a:avLst>
              <a:gd name="adj" fmla="val 17872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02754"/>
            <a:ext cx="115185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4832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Drives Customer Churn?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2190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 surfaced six high-confidence churn drivers that directly informed feature selection and model design.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59893"/>
            <a:ext cx="248022" cy="2480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1802532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Overall Churn Rate: 26.5%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9145" y="2070795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 1 in 4 customers churned — a significant revenue risk demanding immediate intervention.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759893"/>
            <a:ext cx="248022" cy="2480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52492" y="1802532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Tenure is the Strongest Predictor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52492" y="2070795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with less than 12 months of tenure are disproportionately likely to churn, signaling weak early engagement.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14204"/>
            <a:ext cx="248022" cy="2480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145" y="2956843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Higher Charges = Higher Risk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9145" y="3225105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Monthly charges above the median significantly increase churn probability, especially without contract commitment.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2914204"/>
            <a:ext cx="248022" cy="2480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52492" y="2956843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Month-to-Month Contracts Are Vulnerable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052492" y="3225105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43% churn rate vs. just 3% for two-year contracts — flexibility comes at a retention cost.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70052"/>
            <a:ext cx="248022" cy="24802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9145" y="3912691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Electronic Check Users at Risk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99145" y="4180954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payment methods signal lower engagement; auto-pay customers churn far less frequently.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870052"/>
            <a:ext cx="248022" cy="24802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52492" y="3912691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Fiber Optic Customers Need Attention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052492" y="4180954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Despite premium service, fiber optic subscribers show elevated churn — likely due to unmet expectations.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5167"/>
            <a:ext cx="1508745" cy="218554"/>
          </a:xfrm>
          <a:prstGeom prst="roundRect">
            <a:avLst>
              <a:gd name="adj" fmla="val 18177"/>
            </a:avLst>
          </a:prstGeom>
          <a:noFill/>
          <a:ln/>
          <a:effectLst>
            <a:outerShdw blurRad="101600" dist="50800" dir="16200000" algn="bl" rotWithShape="0">
              <a:srgbClr val="4967E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7035" y="420588"/>
            <a:ext cx="1824112" cy="14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ENGINEERING &amp; ML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48742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Building the Predictive Models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299865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Preparation Pipeline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11288"/>
            <a:ext cx="3931667" cy="931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726" y="1743745"/>
            <a:ext cx="36096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Encoding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726" y="2041103"/>
            <a:ext cx="36096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Categorical variables (contract type, payment method, internet service) were one-hot encoded for model compatibility.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55615"/>
            <a:ext cx="3931667" cy="9316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726" y="2788072"/>
            <a:ext cx="36096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Scaling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85726" y="3085430"/>
            <a:ext cx="36096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Numerical features (tenure, monthly charges, CLTV) were standardized to prevent scale bias in model training.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99942"/>
            <a:ext cx="3931667" cy="9316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726" y="3832399"/>
            <a:ext cx="360960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Train-Test Split (80:20)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85726" y="4129757"/>
            <a:ext cx="36096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of data used for training, 20% held out for unbiased evaluation of generalization performance.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35847" y="1187202"/>
            <a:ext cx="4101926" cy="3571131"/>
          </a:xfrm>
          <a:prstGeom prst="roundRect">
            <a:avLst>
              <a:gd name="adj" fmla="val 2384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4754017" y="1299865"/>
            <a:ext cx="386558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Models Trained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754017" y="1597223"/>
            <a:ext cx="3865587" cy="118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Logistic Regression</a:t>
            </a:r>
            <a:r>
              <a:rPr lang="en-US" sz="9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Interpretable baseline with probabilistic outputs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Decision Tree</a:t>
            </a:r>
            <a:r>
              <a:rPr lang="en-US" sz="9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Rule-based model capturing non-linear patterns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Random Forest</a:t>
            </a:r>
            <a:r>
              <a:rPr lang="en-US" sz="9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Ensemble of trees for robust, low-variance predictions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54017" y="2885629"/>
            <a:ext cx="3865587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was selected as the primary model due to its ability to handle feature interactions, reduce overfitting, and provide feature importance scores.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784"/>
            <a:ext cx="833140" cy="135062"/>
          </a:xfrm>
          <a:prstGeom prst="roundRect">
            <a:avLst>
              <a:gd name="adj" fmla="val 20252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44934" y="366192"/>
            <a:ext cx="1192709" cy="8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PERFORMANCE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498202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Comparing Model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832619"/>
            <a:ext cx="860896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three models were evaluated on Accuracy and ROC-AUC score using the held-out 20% test set. </a:t>
            </a: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Random Forest emerged as the best-performing model</a:t>
            </a: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achieving the highest scores on both metrics.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1000497"/>
            <a:ext cx="8151763" cy="758726"/>
          </a:xfrm>
          <a:prstGeom prst="roundRect">
            <a:avLst>
              <a:gd name="adj" fmla="val 450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1188988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1384622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1570732"/>
            <a:ext cx="815176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69382" y="1000497"/>
            <a:ext cx="5088" cy="7587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56250" y="1000497"/>
            <a:ext cx="5088" cy="7587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2364" y="1042020"/>
            <a:ext cx="306050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Model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353098" y="1042020"/>
            <a:ext cx="2976637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Accuracy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39966" y="1042020"/>
            <a:ext cx="2979018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ROC-AUC Score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82364" y="1228130"/>
            <a:ext cx="3060502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Random Forest </a:t>
            </a:r>
            <a:r>
              <a:rPr lang="en-US" sz="6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353098" y="1228130"/>
            <a:ext cx="2976637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77.3%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39966" y="1228130"/>
            <a:ext cx="2979018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0.852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82364" y="1423764"/>
            <a:ext cx="306050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Logistic Regression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353098" y="1423764"/>
            <a:ext cx="2976637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75.0%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39966" y="1423764"/>
            <a:ext cx="2979018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0.850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82364" y="1609874"/>
            <a:ext cx="306050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Tree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353098" y="1609874"/>
            <a:ext cx="2976637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74.0%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039966" y="1609874"/>
            <a:ext cx="2979018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0.837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96119" y="1872630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Random Forest Won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6119" y="2053084"/>
            <a:ext cx="3976613" cy="4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approach reduces overfitting</a:t>
            </a:r>
            <a:endParaRPr lang="en-US" sz="600" dirty="0"/>
          </a:p>
          <a:p>
            <a:pPr marL="121920" indent="-121920" algn="l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class imbalance effectively</a:t>
            </a:r>
            <a:endParaRPr lang="en-US" sz="600" dirty="0"/>
          </a:p>
          <a:p>
            <a:pPr marL="121920" indent="-121920" algn="l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Provides feature importance rankings</a:t>
            </a:r>
            <a:endParaRPr lang="en-US" sz="600" dirty="0"/>
          </a:p>
          <a:p>
            <a:pPr marL="121920" indent="-121920" algn="l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Robust to outliers and noise</a:t>
            </a:r>
            <a:endParaRPr lang="en-US" sz="6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031" y="1879327"/>
            <a:ext cx="3976613" cy="2862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1755"/>
            <a:ext cx="1411114" cy="181719"/>
          </a:xfrm>
          <a:prstGeom prst="roundRect">
            <a:avLst>
              <a:gd name="adj" fmla="val 18994"/>
            </a:avLst>
          </a:prstGeom>
          <a:noFill/>
          <a:ln/>
          <a:effectLst>
            <a:outerShdw blurRad="101600" dist="50800" dir="16200000" algn="bl" rotWithShape="0">
              <a:srgbClr val="4967E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7733" y="382563"/>
            <a:ext cx="1745084" cy="120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6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RECOMMENDATIONS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7482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Turning Insights into 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19" y="1015975"/>
            <a:ext cx="860896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model's predictions and EDA findings translate directly into six targeted retention strategies — each addressing a specific churn driver identified during analysis.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6119" y="1261839"/>
            <a:ext cx="4033317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72" y="1369293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30" y="1454051"/>
            <a:ext cx="138633" cy="1386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72" y="1762497"/>
            <a:ext cx="381840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Proactive Retention Outreach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72" y="1973982"/>
            <a:ext cx="3818409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Trigger personalized retention offers for customers showing early churn signals — especially within the first 12 months.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14490" y="1261839"/>
            <a:ext cx="4033391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21944" y="1369293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702" y="1454051"/>
            <a:ext cx="138633" cy="13863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944" y="1762497"/>
            <a:ext cx="38184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Personalized Marketing Campaigns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21944" y="1973982"/>
            <a:ext cx="38184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Segment customers by tenure, charges, and service type to deliver relevant, timely offers that increase engagement.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96119" y="2466826"/>
            <a:ext cx="4033317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72" y="2574280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30" y="2659038"/>
            <a:ext cx="138633" cy="13863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72" y="2967484"/>
            <a:ext cx="381840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Promote Long-Term Contracts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03572" y="3178969"/>
            <a:ext cx="3818409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Incentivize upgrades from month-to-month to annual or two-year plans with discounts or bundled services.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614490" y="2466826"/>
            <a:ext cx="4033391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21944" y="2574280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702" y="2659038"/>
            <a:ext cx="138633" cy="13863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21944" y="2967484"/>
            <a:ext cx="38184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Encourage Auto-Payment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721944" y="3178969"/>
            <a:ext cx="38184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Migrate electronic check users to automatic payment methods through small incentives or simplified onboarding.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496119" y="3671813"/>
            <a:ext cx="4033317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3572" y="3779267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330" y="3864025"/>
            <a:ext cx="138633" cy="13863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3572" y="4172471"/>
            <a:ext cx="381840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 Customer Support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03572" y="4383956"/>
            <a:ext cx="3818409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Fiber optic customers report higher dissatisfaction — invest in dedicated support and service quality improvements.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4614490" y="3671813"/>
            <a:ext cx="4033391" cy="1119932"/>
          </a:xfrm>
          <a:prstGeom prst="roundRect">
            <a:avLst>
              <a:gd name="adj" fmla="val 38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21944" y="3779267"/>
            <a:ext cx="308149" cy="308149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6702" y="3864025"/>
            <a:ext cx="138633" cy="13863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21944" y="4172471"/>
            <a:ext cx="381848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Focus on High-Value Customers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721944" y="4383956"/>
            <a:ext cx="381848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retention efforts on high-CLTV customers, as their churn has the greatest revenue impact.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8962"/>
            <a:ext cx="740941" cy="209178"/>
          </a:xfrm>
          <a:prstGeom prst="roundRect">
            <a:avLst>
              <a:gd name="adj" fmla="val 18369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64728" y="423267"/>
            <a:ext cx="1060921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40259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155725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how predictive analytics transforms raw customer data into strategic business intelligence — enabling proactive, data-driven retention decisions.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625947"/>
            <a:ext cx="257249" cy="257249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8944" y="1647341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8738" y="1665238"/>
            <a:ext cx="778914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Behavior Successfully Analyzed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8738" y="1907158"/>
            <a:ext cx="778914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EDA on 7,043 customers across 33 features revealed clear, actionable churn patterns.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293813"/>
            <a:ext cx="257249" cy="257249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944" y="231520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8738" y="2333104"/>
            <a:ext cx="778914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Six Key Churn Drivers Identified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8738" y="2575024"/>
            <a:ext cx="778914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Tenure, contract type, monthly charges, payment method, fiber optic service, and CLTV were confirmed as primary churn factors.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961680"/>
            <a:ext cx="257249" cy="257249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944" y="2983074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8738" y="3000970"/>
            <a:ext cx="778914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Random Forest Achieved Best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8738" y="3242890"/>
            <a:ext cx="778914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 77.3% accuracy and 0.852 ROC-AUC, Random Forest outperformed Logistic Regression and Decision Tree baselines.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3629546"/>
            <a:ext cx="257249" cy="257249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944" y="3650940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8738" y="3668837"/>
            <a:ext cx="778914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Analytics Drives Retention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8738" y="3910757"/>
            <a:ext cx="778914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 enables early identification of at-risk customers, allowing timely, targeted intervention before churn occurs.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6119" y="4297412"/>
            <a:ext cx="257249" cy="257249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944" y="4318806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8738" y="4336703"/>
            <a:ext cx="778914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Supports Data-Driven Business Decisions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8738" y="4578623"/>
            <a:ext cx="778914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Recommendations are grounded in empirical evidence, giving leadership a clear roadmap to reduce churn and increase CLTV.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85725"/>
            <a:ext cx="3314700" cy="4972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86655"/>
            <a:ext cx="4722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Thank You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925119" y="902122"/>
            <a:ext cx="4722763" cy="49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Questions &amp; Answers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3925119" y="1553394"/>
            <a:ext cx="4722763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presentation summarized an end-to-end predictive analytics project — from data exploration to model deployment and business recommendations. I welcome your questions, feedback, and discussion.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2199456"/>
            <a:ext cx="4722763" cy="1829767"/>
          </a:xfrm>
          <a:prstGeom prst="roundRect">
            <a:avLst>
              <a:gd name="adj" fmla="val 262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881" y="2204219"/>
            <a:ext cx="2356619" cy="998041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9" name="Text 6"/>
          <p:cNvSpPr/>
          <p:nvPr/>
        </p:nvSpPr>
        <p:spPr>
          <a:xfrm>
            <a:off x="4044181" y="2318519"/>
            <a:ext cx="212801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44181" y="2560439"/>
            <a:ext cx="212801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Rakesh B V </a:t>
            </a:r>
            <a:endParaRPr lang="en-US" sz="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B.E. Electronics And Communication Engineering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86500" y="2204219"/>
            <a:ext cx="2356619" cy="998041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0" y="2204219"/>
            <a:ext cx="14288" cy="998041"/>
          </a:xfrm>
          <a:prstGeom prst="roundRect">
            <a:avLst>
              <a:gd name="adj" fmla="val 336151"/>
            </a:avLst>
          </a:prstGeom>
          <a:solidFill>
            <a:srgbClr val="B8BFD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318519"/>
            <a:ext cx="212801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560439"/>
            <a:ext cx="212801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Don Bosco Institute of Technology</a:t>
            </a:r>
            <a:endParaRPr lang="en-US" sz="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Affiliated to VTU, Bengaluru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29881" y="3202260"/>
            <a:ext cx="4713238" cy="822201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6" name="Shape 13"/>
          <p:cNvSpPr/>
          <p:nvPr/>
        </p:nvSpPr>
        <p:spPr>
          <a:xfrm>
            <a:off x="3929881" y="3202260"/>
            <a:ext cx="4713238" cy="14288"/>
          </a:xfrm>
          <a:prstGeom prst="roundRect">
            <a:avLst>
              <a:gd name="adj" fmla="val 336151"/>
            </a:avLst>
          </a:prstGeom>
          <a:solidFill>
            <a:srgbClr val="B8BFDF"/>
          </a:solidFill>
          <a:ln/>
        </p:spPr>
      </p:sp>
      <p:sp>
        <p:nvSpPr>
          <p:cNvPr id="17" name="Text 14"/>
          <p:cNvSpPr/>
          <p:nvPr/>
        </p:nvSpPr>
        <p:spPr>
          <a:xfrm>
            <a:off x="4044181" y="3316560"/>
            <a:ext cx="4484638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Focus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4181" y="3558480"/>
            <a:ext cx="448463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Customer Churn Prediction</a:t>
            </a:r>
            <a:endParaRPr lang="en-US" sz="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Analytics &amp; Machine Learning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925119" y="4147765"/>
            <a:ext cx="4722763" cy="609079"/>
          </a:xfrm>
          <a:prstGeom prst="roundRect">
            <a:avLst>
              <a:gd name="adj" fmla="val 7886"/>
            </a:avLst>
          </a:prstGeom>
          <a:solidFill>
            <a:srgbClr val="D2D9F9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419" y="4304928"/>
            <a:ext cx="142875" cy="114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96594" y="4281711"/>
            <a:ext cx="4236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was conducted as part of an academic internship program. All models and insights are based on publicly available telecom customer data.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1110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Nobile Bold</vt:lpstr>
      <vt:lpstr>Arial</vt:lpstr>
      <vt:lpstr>Corben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 gowda b y</dc:creator>
  <cp:lastModifiedBy>Manoj gowda b y</cp:lastModifiedBy>
  <cp:revision>2</cp:revision>
  <dcterms:created xsi:type="dcterms:W3CDTF">2026-07-08T07:06:15Z</dcterms:created>
  <dcterms:modified xsi:type="dcterms:W3CDTF">2026-07-08T07:10:02Z</dcterms:modified>
</cp:coreProperties>
</file>